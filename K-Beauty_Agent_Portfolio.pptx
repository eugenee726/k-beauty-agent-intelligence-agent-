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E91E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 </a:t>
            </a:r>
            <a:pPr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PROBLEM  ·  문제 정의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A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K-Beauty Intelligence Agent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7406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수백 개 제품의 트렌드를,</a:t>
            </a:r>
            <a:endParaRPr lang="en-US" sz="33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사람이 매주 따라잡을 수 있을까?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566928" y="29718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D9C7E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해외 K-뷰티의 SNS·리테일·리뷰 반응을 AI가 분석해, "어떤 제품을 왜 지금 밀어야 하는가"를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D9C7E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근거와 함께 매주 자동으로 제안하는 멀티 에이전트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8366760" y="1417320"/>
            <a:ext cx="3246120" cy="914400"/>
          </a:xfrm>
          <a:prstGeom prst="roundRect">
            <a:avLst>
              <a:gd name="adj" fmla="val 8000"/>
            </a:avLst>
          </a:prstGeom>
          <a:solidFill>
            <a:srgbClr val="3D2647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366760" y="1463040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SNS 트렌드 신호
</a:t>
            </a:r>
            <a:pPr algn="ctr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B89B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TikTok · YouTube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366760" y="239572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91E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⇅  불일치 (Gap)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366760" y="2880360"/>
            <a:ext cx="3246120" cy="914400"/>
          </a:xfrm>
          <a:prstGeom prst="roundRect">
            <a:avLst>
              <a:gd name="adj" fmla="val 8000"/>
            </a:avLst>
          </a:prstGeom>
          <a:solidFill>
            <a:srgbClr val="3D2647"/>
          </a:solidFill>
          <a:ln w="12700">
            <a:solidFill>
              <a:srgbClr val="6C4A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366760" y="2926080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리테일 구매 신호
</a:t>
            </a:r>
            <a:pPr algn="ctr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B89B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OY Global · Sephora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4160520"/>
            <a:ext cx="3657600" cy="1143000"/>
          </a:xfrm>
          <a:prstGeom prst="roundRect">
            <a:avLst>
              <a:gd name="adj" fmla="val 6400"/>
            </a:avLst>
          </a:prstGeom>
          <a:solidFill>
            <a:srgbClr val="3D2647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4279392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91E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+37%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94360" y="486460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9C7E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美 K-뷰티 시장 성장 (2025)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325112" y="4160520"/>
            <a:ext cx="3657600" cy="1143000"/>
          </a:xfrm>
          <a:prstGeom prst="roundRect">
            <a:avLst>
              <a:gd name="adj" fmla="val 6400"/>
            </a:avLst>
          </a:prstGeom>
          <a:solidFill>
            <a:srgbClr val="3D2647"/>
          </a:solidFill>
          <a:ln/>
        </p:spPr>
      </p:sp>
      <p:sp>
        <p:nvSpPr>
          <p:cNvPr id="15" name="Text 13"/>
          <p:cNvSpPr/>
          <p:nvPr/>
        </p:nvSpPr>
        <p:spPr>
          <a:xfrm>
            <a:off x="4370832" y="4279392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91E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美 &gt; 中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370832" y="486460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9C7E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 미국 매출, 중국 첫 추월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101584" y="4160520"/>
            <a:ext cx="3657600" cy="1143000"/>
          </a:xfrm>
          <a:prstGeom prst="roundRect">
            <a:avLst>
              <a:gd name="adj" fmla="val 6400"/>
            </a:avLst>
          </a:prstGeom>
          <a:solidFill>
            <a:srgbClr val="3D2647"/>
          </a:solidFill>
          <a:ln/>
        </p:spPr>
      </p:sp>
      <p:sp>
        <p:nvSpPr>
          <p:cNvPr id="18" name="Text 16"/>
          <p:cNvSpPr/>
          <p:nvPr/>
        </p:nvSpPr>
        <p:spPr>
          <a:xfrm>
            <a:off x="8147304" y="4279392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91E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80%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8147304" y="486460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9C7E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방한 외국인의 올리브영 구매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5623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89B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 AI Innovation Challenge 2026</a:t>
            </a:r>
            <a:pPr algn="ctr" indent="0" marL="0">
              <a:buNone/>
            </a:pPr>
            <a:r>
              <a:rPr lang="en-US" sz="1300" dirty="0">
                <a:solidFill>
                  <a:srgbClr val="B89B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·  6인 팀장으로 기획 → </a:t>
            </a:r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활용 한계를 진단해 개인 프로젝트로 전면 재설계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6053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E7A9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13개 브랜드 × 700여 개 제품 × 4개 플랫폼을 수동 교차검증하는 것은 구조적으로 불가능하다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E91E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 </a:t>
            </a:r>
            <a:pPr indent="0" marL="0">
              <a:buNone/>
            </a:pPr>
            <a:r>
              <a:rPr lang="en-US" sz="1500" b="1" spc="200" kern="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HYPOTHESIS  ·  가설 설정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 라벨이 없는 문제 → 검증 가능한 "설계 가설"로 전환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B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"이 트렌드가 진짜 기회였는가"의 정답 데이터는 없다. 그래서 정확도가 아니라, 기존 방식의 한계를 진단하고 더 나은 신호를 가설로 세워 검증했다.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11091672" cy="1325880"/>
          </a:xfrm>
          <a:prstGeom prst="roundRect">
            <a:avLst>
              <a:gd name="adj" fmla="val 4138"/>
            </a:avLst>
          </a:prstGeom>
          <a:solidFill>
            <a:srgbClr val="FAF7FB"/>
          </a:solidFill>
          <a:ln w="12700">
            <a:solidFill>
              <a:srgbClr val="E3DCE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313432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91E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H1 · 트렌드 탐지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200400" y="2295144"/>
            <a:ext cx="8275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6B6B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관찰   </a:t>
            </a:r>
            <a:pPr indent="0" marL="0">
              <a:lnSpc>
                <a:spcPts val="17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7일 단순 성장률은 베이스가 작으면 비율이 폭발하고, 통계적 유의성 판단이 없다.
</a:t>
            </a:r>
            <a:endParaRPr lang="en-US" sz="1100" dirty="0"/>
          </a:p>
          <a:p>
            <a:pPr indent="0" marL="0">
              <a:lnSpc>
                <a:spcPts val="17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E91E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가설   </a:t>
            </a:r>
            <a:pPr indent="0" marL="0">
              <a:lnSpc>
                <a:spcPts val="1700"/>
              </a:lnSpc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직전 4주 평균 대비 Z-score + 3주 모멘텀이 "노이즈 vs 진짜 급등"을 더 정확히 구분할 것이다.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3639312"/>
            <a:ext cx="11091672" cy="1325880"/>
          </a:xfrm>
          <a:prstGeom prst="roundRect">
            <a:avLst>
              <a:gd name="adj" fmla="val 4138"/>
            </a:avLst>
          </a:prstGeom>
          <a:solidFill>
            <a:srgbClr val="FAF7FB"/>
          </a:solidFill>
          <a:ln w="12700">
            <a:solidFill>
              <a:srgbClr val="E3DCE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77240" y="3803904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6C4A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H2 · 제품 반응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200400" y="3785616"/>
            <a:ext cx="8275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6B6B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관찰   </a:t>
            </a:r>
            <a:pPr indent="0" marL="0">
              <a:lnSpc>
                <a:spcPts val="17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리테일 순위는 단일 플랫폼 의존·결측이 많은 후행 지표다. VOC 100개 고정 샘플은 반응 규모를 지운다.
</a:t>
            </a:r>
            <a:endParaRPr lang="en-US" sz="1100" dirty="0"/>
          </a:p>
          <a:p>
            <a:pPr indent="0" marL="0">
              <a:lnSpc>
                <a:spcPts val="17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6C4A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가설   </a:t>
            </a:r>
            <a:pPr indent="0" marL="0">
              <a:lnSpc>
                <a:spcPts val="1700"/>
              </a:lnSpc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리뷰 수의 주간 증감(유입 속도)이 실제 소비자 활동을 더 빠르게 포착하는 선행 신호일 것이다.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5129784"/>
            <a:ext cx="11091672" cy="1325880"/>
          </a:xfrm>
          <a:prstGeom prst="roundRect">
            <a:avLst>
              <a:gd name="adj" fmla="val 4138"/>
            </a:avLst>
          </a:prstGeom>
          <a:solidFill>
            <a:srgbClr val="FAF7FB"/>
          </a:solidFill>
          <a:ln w="12700">
            <a:solidFill>
              <a:srgbClr val="E3DCE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77240" y="5294376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91E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H3 · 실행 연결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200400" y="5276088"/>
            <a:ext cx="8275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6B6B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관찰   </a:t>
            </a:r>
            <a:pPr indent="0" marL="0">
              <a:lnSpc>
                <a:spcPts val="17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키워드·브랜드 수준 연결과 단순 연결 여부(0/1)만으로는 담당자가 바로 실행하기 어렵다.
</a:t>
            </a:r>
            <a:endParaRPr lang="en-US" sz="1100" dirty="0"/>
          </a:p>
          <a:p>
            <a:pPr indent="0" marL="0">
              <a:lnSpc>
                <a:spcPts val="17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E91E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가설   </a:t>
            </a:r>
            <a:pPr indent="0" marL="0">
              <a:lnSpc>
                <a:spcPts val="1700"/>
              </a:lnSpc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SKU 단위 매핑 + SNS 트렌드 강도(정규화)가 "무엇을 왜"까지 짚어 실행 가능성을 높일 것이다.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E91E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 </a:t>
            </a:r>
            <a:pPr indent="0" marL="0">
              <a:buNone/>
            </a:pPr>
            <a:r>
              <a:rPr lang="en-US" sz="1500" b="1" spc="200" kern="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METHOD  ·  실험 설계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가설을 검증하기 위한 시스템 — 무엇을, 어떻게 바꿨나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2542032" cy="841248"/>
          </a:xfrm>
          <a:prstGeom prst="roundRect">
            <a:avLst>
              <a:gd name="adj" fmla="val 6522"/>
            </a:avLst>
          </a:prstGeom>
          <a:solidFill>
            <a:srgbClr val="FCE9F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72768"/>
            <a:ext cx="254203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수집</a:t>
            </a:r>
            <a:endParaRPr lang="en-US" sz="12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4개 플랫폼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090672" y="1572768"/>
            <a:ext cx="32918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91E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419856" y="1572768"/>
            <a:ext cx="2542032" cy="841248"/>
          </a:xfrm>
          <a:prstGeom prst="roundRect">
            <a:avLst>
              <a:gd name="adj" fmla="val 6522"/>
            </a:avLst>
          </a:prstGeom>
          <a:solidFill>
            <a:srgbClr val="EEE8F7"/>
          </a:solidFill>
          <a:ln/>
        </p:spPr>
      </p:sp>
      <p:sp>
        <p:nvSpPr>
          <p:cNvPr id="8" name="Text 6"/>
          <p:cNvSpPr/>
          <p:nvPr/>
        </p:nvSpPr>
        <p:spPr>
          <a:xfrm>
            <a:off x="3419856" y="1572768"/>
            <a:ext cx="254203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통계·LLM 분석</a:t>
            </a:r>
            <a:endParaRPr lang="en-US" sz="12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z-score·모멘텀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61888" y="1572768"/>
            <a:ext cx="32918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91E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291072" y="1572768"/>
            <a:ext cx="2542032" cy="841248"/>
          </a:xfrm>
          <a:prstGeom prst="roundRect">
            <a:avLst>
              <a:gd name="adj" fmla="val 6522"/>
            </a:avLst>
          </a:prstGeom>
          <a:solidFill>
            <a:srgbClr val="FCE9F2"/>
          </a:solidFill>
          <a:ln/>
        </p:spPr>
      </p:sp>
      <p:sp>
        <p:nvSpPr>
          <p:cNvPr id="11" name="Text 9"/>
          <p:cNvSpPr/>
          <p:nvPr/>
        </p:nvSpPr>
        <p:spPr>
          <a:xfrm>
            <a:off x="6291072" y="1572768"/>
            <a:ext cx="254203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3대 의사결정</a:t>
            </a:r>
            <a:endParaRPr lang="en-US" sz="12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Trend·Product·Inbound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833104" y="1572768"/>
            <a:ext cx="32918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91E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162288" y="1572768"/>
            <a:ext cx="2542032" cy="841248"/>
          </a:xfrm>
          <a:prstGeom prst="roundRect">
            <a:avLst>
              <a:gd name="adj" fmla="val 6522"/>
            </a:avLst>
          </a:prstGeom>
          <a:solidFill>
            <a:srgbClr val="EEE8F7"/>
          </a:solidFill>
          <a:ln/>
        </p:spPr>
      </p:sp>
      <p:sp>
        <p:nvSpPr>
          <p:cNvPr id="14" name="Text 12"/>
          <p:cNvSpPr/>
          <p:nvPr/>
        </p:nvSpPr>
        <p:spPr>
          <a:xfrm>
            <a:off x="9162288" y="1572768"/>
            <a:ext cx="254203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리포트</a:t>
            </a:r>
            <a:endParaRPr lang="en-US" sz="12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3-탭 HTML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2432304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B6B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Agentic Orchestrator — Claude가 DB 상태를 보고 필요한 단계만 판단·실행 (불필요한 재수집 방지)</a:t>
            </a:r>
            <a:endParaRPr lang="en-US" sz="11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971800"/>
          <a:ext cx="11091672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063240"/>
                <a:gridCol w="3291840"/>
                <a:gridCol w="2724912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1B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기존 (팀 버전)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1B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재설계 (개인)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1B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1B3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트렌드 탐지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7일 단순 성장률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E91E8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Z-score + 3주 모멘텀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9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통계적 이상치 + 지속성 분리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제품 반응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VOC 100개 고정 샘플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E91E8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전체 리뷰 유입 속도(velocity)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9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실제 소비자 활동 측정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제품 매칭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difflib 문자열 유사도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E91E8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rapidfuzz + SKU 매핑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9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표기·순서 차이에 견고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의사결정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규칙 기반 분류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E91E8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Agentic + 우선순위 점수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9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자원 집중 자동 정렬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Text 14"/>
          <p:cNvSpPr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C4A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화이트박스 원칙   </a:t>
            </a:r>
            <a:pPr algn="ctr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점수를 공개 수식으로 직접 설계 — "왜 이 제품이 PUSH NOW인가"를 누구나 추적 가능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B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E91E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 </a:t>
            </a:r>
            <a:pPr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RESULTS  ·  결과 &amp; 검증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근거와 함께, 매주 자동으로 — 3가지 실행형 인사이트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6576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801368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📈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508760" y="18745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트렌드 인사이트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04672" y="251460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6B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급등 키워드를 기회 유형 × 트렌드 모양 2축으로 해석 + SKU 연결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25112" y="1600200"/>
            <a:ext cx="36576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53712" y="1801368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🛍️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5285232" y="18745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 전략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81144" y="251460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6B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 제품을 VOC 모멘텀(리뷰 유입·별점 추세)으로 4분면 분류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01584" y="1600200"/>
            <a:ext cx="36576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30184" y="1801368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✈️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9061704" y="18745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방한 추천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357616" y="251460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6B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"해외 화제 + 실제 만족 + 현지 인기"로 방한 쇼핑 Top 15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611880"/>
            <a:ext cx="2743200" cy="960120"/>
          </a:xfrm>
          <a:prstGeom prst="roundRect">
            <a:avLst>
              <a:gd name="adj" fmla="val 6667"/>
            </a:avLst>
          </a:prstGeom>
          <a:solidFill>
            <a:srgbClr val="3D2647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72160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91E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548640" y="423367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9C7E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수집 플랫폼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387852" y="3611880"/>
            <a:ext cx="2743200" cy="960120"/>
          </a:xfrm>
          <a:prstGeom prst="roundRect">
            <a:avLst>
              <a:gd name="adj" fmla="val 6667"/>
            </a:avLst>
          </a:prstGeom>
          <a:solidFill>
            <a:srgbClr val="3D2647"/>
          </a:solidFill>
          <a:ln/>
        </p:spPr>
      </p:sp>
      <p:sp>
        <p:nvSpPr>
          <p:cNvPr id="20" name="Text 18"/>
          <p:cNvSpPr/>
          <p:nvPr/>
        </p:nvSpPr>
        <p:spPr>
          <a:xfrm>
            <a:off x="3387852" y="372160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91E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3387852" y="423367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9C7E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 브랜드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27064" y="3611880"/>
            <a:ext cx="2743200" cy="960120"/>
          </a:xfrm>
          <a:prstGeom prst="roundRect">
            <a:avLst>
              <a:gd name="adj" fmla="val 6667"/>
            </a:avLst>
          </a:prstGeom>
          <a:solidFill>
            <a:srgbClr val="3D2647"/>
          </a:solidFill>
          <a:ln/>
        </p:spPr>
      </p:sp>
      <p:sp>
        <p:nvSpPr>
          <p:cNvPr id="23" name="Text 21"/>
          <p:cNvSpPr/>
          <p:nvPr/>
        </p:nvSpPr>
        <p:spPr>
          <a:xfrm>
            <a:off x="6227064" y="372160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91E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721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6227064" y="423367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9C7E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 카탈로그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066276" y="3611880"/>
            <a:ext cx="2743200" cy="960120"/>
          </a:xfrm>
          <a:prstGeom prst="roundRect">
            <a:avLst>
              <a:gd name="adj" fmla="val 6667"/>
            </a:avLst>
          </a:prstGeom>
          <a:solidFill>
            <a:srgbClr val="3D2647"/>
          </a:solidFill>
          <a:ln/>
        </p:spPr>
      </p:sp>
      <p:sp>
        <p:nvSpPr>
          <p:cNvPr id="26" name="Text 24"/>
          <p:cNvSpPr/>
          <p:nvPr/>
        </p:nvSpPr>
        <p:spPr>
          <a:xfrm>
            <a:off x="9066276" y="372160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91E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주간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9066276" y="423367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9C7E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무인 자동 실행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4828032"/>
            <a:ext cx="11091672" cy="1417320"/>
          </a:xfrm>
          <a:prstGeom prst="roundRect">
            <a:avLst>
              <a:gd name="adj" fmla="val 5161"/>
            </a:avLst>
          </a:prstGeom>
          <a:solidFill>
            <a:srgbClr val="3D2647"/>
          </a:solidFill>
          <a:ln/>
        </p:spPr>
      </p:sp>
      <p:sp>
        <p:nvSpPr>
          <p:cNvPr id="29" name="Text 27"/>
          <p:cNvSpPr/>
          <p:nvPr/>
        </p:nvSpPr>
        <p:spPr>
          <a:xfrm>
            <a:off x="822960" y="4983480"/>
            <a:ext cx="10515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E91E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  </a:t>
            </a:r>
            <a:pPr indent="0" marL="0">
              <a:lnSpc>
                <a:spcPts val="1900"/>
              </a:lnSpc>
              <a:spcAft>
                <a:spcPts val="5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SNS 트렌드 강도가 높은 제품이 판매 1위(SNS 무연결)를 앞서며, "지금 해외에서 화제인 제품"이 상위로 정렬됨을 확인.
</a:t>
            </a:r>
            <a:endParaRPr lang="en-US" sz="1200" dirty="0"/>
          </a:p>
          <a:p>
            <a:pPr indent="0" marL="0">
              <a:lnSpc>
                <a:spcPts val="1900"/>
              </a:lnSpc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E91E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차별점   </a:t>
            </a:r>
            <a:pPr indent="0" marL="0">
              <a:lnSpc>
                <a:spcPts val="1900"/>
              </a:lnSpc>
              <a:spcAft>
                <a:spcPts val="5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정답이 없을수록 "판단 근거의 투명성"이 신뢰를 만든다 — 블랙박스가 아닌, 객관적 사실에 근거해 AP의 기획·전략·개발을 독려하는 화이트박스 에이전트.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K-Beauty Intelligence Agent</dc:title>
  <dc:subject>PptxGenJS Presentation</dc:subject>
  <dc:creator>박유진</dc:creator>
  <cp:lastModifiedBy>박유진</cp:lastModifiedBy>
  <cp:revision>1</cp:revision>
  <dcterms:created xsi:type="dcterms:W3CDTF">2026-06-24T08:56:25Z</dcterms:created>
  <dcterms:modified xsi:type="dcterms:W3CDTF">2026-06-24T08:56:25Z</dcterms:modified>
</cp:coreProperties>
</file>